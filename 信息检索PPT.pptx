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21"/>
    </p:embeddedFont>
    <p:embeddedFont>
      <p:font typeface="Arimo" charset="1" panose="020B06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png" Type="http://schemas.openxmlformats.org/officeDocument/2006/relationships/image"/><Relationship Id="rId4" Target="../media/image8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https://electron-update-1251441578.file.myqcloud.com/hdcms/images/8af9a56bd5687c1b1f7cf29c30cbbd2d.png"/>
          <p:cNvSpPr/>
          <p:nvPr/>
        </p:nvSpPr>
        <p:spPr>
          <a:xfrm flipH="false" flipV="false" rot="0">
            <a:off x="8167354" y="2771842"/>
            <a:ext cx="10120646" cy="7515158"/>
          </a:xfrm>
          <a:custGeom>
            <a:avLst/>
            <a:gdLst/>
            <a:ahLst/>
            <a:cxnLst/>
            <a:rect r="r" b="b" t="t" l="l"/>
            <a:pathLst>
              <a:path h="7515158" w="10120646">
                <a:moveTo>
                  <a:pt x="0" y="0"/>
                </a:moveTo>
                <a:lnTo>
                  <a:pt x="10120646" y="0"/>
                </a:lnTo>
                <a:lnTo>
                  <a:pt x="10120646" y="7515158"/>
                </a:lnTo>
                <a:lnTo>
                  <a:pt x="0" y="7515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7592" y="3021045"/>
            <a:ext cx="7619762" cy="350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2E333E"/>
                </a:solidFill>
                <a:latin typeface="Arimo Bold"/>
                <a:ea typeface="Arimo Bold"/>
                <a:cs typeface="Arimo Bold"/>
                <a:sym typeface="Arimo Bold"/>
              </a:rPr>
              <a:t>关于小说的</a:t>
            </a:r>
          </a:p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2E333E"/>
                </a:solidFill>
                <a:latin typeface="Arimo Bold"/>
                <a:ea typeface="Arimo Bold"/>
                <a:cs typeface="Arimo Bold"/>
                <a:sym typeface="Arimo Bold"/>
              </a:rPr>
              <a:t>信息检索系统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8413" y="9248356"/>
            <a:ext cx="2922156" cy="35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2304">
                <a:solidFill>
                  <a:srgbClr val="0508CB"/>
                </a:solidFill>
                <a:latin typeface="Arimo"/>
                <a:ea typeface="Arimo"/>
                <a:cs typeface="Arimo"/>
                <a:sym typeface="Arimo"/>
              </a:rPr>
              <a:t>时间：2025-12-22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8413" y="8516836"/>
            <a:ext cx="1755219" cy="31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2304">
                <a:solidFill>
                  <a:srgbClr val="0508CB"/>
                </a:solidFill>
                <a:latin typeface="Arimo"/>
                <a:ea typeface="Arimo"/>
                <a:cs typeface="Arimo"/>
                <a:sym typeface="Arimo"/>
              </a:rPr>
              <a:t>汇报人：吴静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17253" y="868185"/>
            <a:ext cx="4311120" cy="32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879">
                <a:solidFill>
                  <a:srgbClr val="0508CB"/>
                </a:solidFill>
                <a:latin typeface="Arimo"/>
                <a:ea typeface="Arimo"/>
                <a:cs typeface="Arimo"/>
                <a:sym typeface="Arimo"/>
              </a:rPr>
              <a:t>GRADUATION DEFENSE</a:t>
            </a:r>
          </a:p>
        </p:txBody>
      </p:sp>
      <p:sp>
        <p:nvSpPr>
          <p:cNvPr name="Freeform 7" id="7" descr="https://electron-update-1251441578.file.myqcloud.com/hdcms/images/2ee91b3516d4293366bbe2ff40cd8dcf.png"/>
          <p:cNvSpPr/>
          <p:nvPr/>
        </p:nvSpPr>
        <p:spPr>
          <a:xfrm flipH="false" flipV="false" rot="0">
            <a:off x="15545714" y="872395"/>
            <a:ext cx="2401214" cy="274320"/>
          </a:xfrm>
          <a:custGeom>
            <a:avLst/>
            <a:gdLst/>
            <a:ahLst/>
            <a:cxnLst/>
            <a:rect r="r" b="b" t="t" l="l"/>
            <a:pathLst>
              <a:path h="274320" w="2401214">
                <a:moveTo>
                  <a:pt x="0" y="0"/>
                </a:moveTo>
                <a:lnTo>
                  <a:pt x="2401215" y="0"/>
                </a:lnTo>
                <a:lnTo>
                  <a:pt x="2401215" y="274320"/>
                </a:lnTo>
                <a:lnTo>
                  <a:pt x="0" y="274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" r="0" b="-2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https://electron-update-1251441578.file.myqcloud.com/hdcms/images/1d813479b45a97a231ff6438d45e5dc9.png"/>
          <p:cNvSpPr/>
          <p:nvPr/>
        </p:nvSpPr>
        <p:spPr>
          <a:xfrm flipH="false" flipV="false" rot="0">
            <a:off x="1444742" y="2463184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https://electron-update-1251441578.file.myqcloud.com/hdcms/images/1d813479b45a97a231ff6438d45e5dc9.png"/>
          <p:cNvSpPr/>
          <p:nvPr/>
        </p:nvSpPr>
        <p:spPr>
          <a:xfrm flipH="false" flipV="false" rot="0">
            <a:off x="14744890" y="7443883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https://electron-update-1251441578.file.myqcloud.com/hdcms/images/e300d293929ad01035982a22ed5bf2f1.png"/>
          <p:cNvSpPr/>
          <p:nvPr/>
        </p:nvSpPr>
        <p:spPr>
          <a:xfrm flipH="false" flipV="false" rot="0">
            <a:off x="14014342" y="982513"/>
            <a:ext cx="2878531" cy="1856232"/>
          </a:xfrm>
          <a:custGeom>
            <a:avLst/>
            <a:gdLst/>
            <a:ahLst/>
            <a:cxnLst/>
            <a:rect r="r" b="b" t="t" l="l"/>
            <a:pathLst>
              <a:path h="1856232" w="2878531">
                <a:moveTo>
                  <a:pt x="0" y="0"/>
                </a:moveTo>
                <a:lnTo>
                  <a:pt x="2878531" y="0"/>
                </a:lnTo>
                <a:lnTo>
                  <a:pt x="2878531" y="1856232"/>
                </a:lnTo>
                <a:lnTo>
                  <a:pt x="0" y="1856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" t="0" r="-17" b="0"/>
            </a:stretch>
          </a:blipFill>
        </p:spPr>
      </p:sp>
      <p:sp>
        <p:nvSpPr>
          <p:cNvPr name="Freeform 6" id="6" descr="https://electron-update-1251441578.file.myqcloud.com/hdcms/images/e300d293929ad01035982a22ed5bf2f1.png"/>
          <p:cNvSpPr/>
          <p:nvPr/>
        </p:nvSpPr>
        <p:spPr>
          <a:xfrm flipH="false" flipV="false" rot="0">
            <a:off x="1444742" y="7788812"/>
            <a:ext cx="2879388" cy="1856137"/>
          </a:xfrm>
          <a:custGeom>
            <a:avLst/>
            <a:gdLst/>
            <a:ahLst/>
            <a:cxnLst/>
            <a:rect r="r" b="b" t="t" l="l"/>
            <a:pathLst>
              <a:path h="1856137" w="2879388">
                <a:moveTo>
                  <a:pt x="0" y="0"/>
                </a:moveTo>
                <a:lnTo>
                  <a:pt x="2879389" y="0"/>
                </a:lnTo>
                <a:lnTo>
                  <a:pt x="2879389" y="1856136"/>
                </a:lnTo>
                <a:lnTo>
                  <a:pt x="0" y="1856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32349" y="4938865"/>
            <a:ext cx="13623303" cy="113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4"/>
              </a:lnSpc>
            </a:pPr>
            <a:r>
              <a:rPr lang="en-US" sz="8640" b="true">
                <a:solidFill>
                  <a:srgbClr val="2E333E"/>
                </a:solidFill>
                <a:latin typeface="Arimo Bold"/>
                <a:ea typeface="Arimo Bold"/>
                <a:cs typeface="Arimo Bold"/>
                <a:sym typeface="Arimo Bold"/>
              </a:rPr>
              <a:t>系统设计目标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75090" y="2312127"/>
            <a:ext cx="1537811" cy="138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b="true" sz="10368" spc="288">
                <a:solidFill>
                  <a:srgbClr val="353AF6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0093" y="718871"/>
            <a:ext cx="6771623" cy="71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87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核心功能 —— 小说全场景信息服务闭环</a:t>
            </a:r>
          </a:p>
          <a:p>
            <a:pPr algn="l">
              <a:lnSpc>
                <a:spcPts val="276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49719"/>
            <a:ext cx="15386602" cy="7077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🎯破解 “找书途径少” 的核心痛点</a:t>
            </a:r>
          </a:p>
          <a:p>
            <a:pPr algn="l" marL="1348583" indent="-449528" lvl="2">
              <a:lnSpc>
                <a:spcPts val="4715"/>
              </a:lnSpc>
              <a:buFont typeface="Arial"/>
              <a:buChar char="⚬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基于个人小说阅读喜好，打造 “多途径、精准化、全场景” 的</a:t>
            </a: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小说信息入口，解决 “想找书却没靠谱渠道、偏好难匹配” 的问题，让每一次找书都高效不费力</a:t>
            </a:r>
          </a:p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💻</a:t>
            </a: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轻量化架构，降低找书门槛</a:t>
            </a:r>
          </a:p>
          <a:p>
            <a:pPr algn="l" marL="1348583" indent="-449528" lvl="2">
              <a:lnSpc>
                <a:spcPts val="4715"/>
              </a:lnSpc>
              <a:buFont typeface="Arial"/>
              <a:buChar char="⚬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通过多智能体协作 + 实时合规数据源对接，</a:t>
            </a: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无需手动切换多个平台，无需维护本地书单，10 秒内获取 “找书 - 查信息 - 读正版” 的全流程服务</a:t>
            </a:r>
          </a:p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😊</a:t>
            </a: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贴合阅读习惯，满足个性化需求</a:t>
            </a:r>
          </a:p>
          <a:p>
            <a:pPr algn="l" marL="1348583" indent="-449528" lvl="2">
              <a:lnSpc>
                <a:spcPts val="4715"/>
              </a:lnSpc>
              <a:buFont typeface="Arial"/>
              <a:buChar char="⚬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支持 “类似小说推荐”“关键词偏好筛选”“免费 / 有声版定制”，输出结构化结果，支持多轮追问，完全适配个人阅读偏好</a:t>
            </a:r>
          </a:p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🛡️</a:t>
            </a: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安全找书，守护正版</a:t>
            </a: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阅读</a:t>
            </a:r>
          </a:p>
          <a:p>
            <a:pPr algn="l">
              <a:lnSpc>
                <a:spcPts val="4715"/>
              </a:lnSpc>
            </a:pPr>
          </a:p>
          <a:p>
            <a:pPr algn="l">
              <a:lnSpc>
                <a:spcPts val="471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https://electron-update-1251441578.file.myqcloud.com/hdcms/images/1d813479b45a97a231ff6438d45e5dc9.png"/>
          <p:cNvSpPr/>
          <p:nvPr/>
        </p:nvSpPr>
        <p:spPr>
          <a:xfrm flipH="false" flipV="false" rot="0">
            <a:off x="1444742" y="2463184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https://electron-update-1251441578.file.myqcloud.com/hdcms/images/1d813479b45a97a231ff6438d45e5dc9.png"/>
          <p:cNvSpPr/>
          <p:nvPr/>
        </p:nvSpPr>
        <p:spPr>
          <a:xfrm flipH="false" flipV="false" rot="0">
            <a:off x="14744890" y="7443883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https://electron-update-1251441578.file.myqcloud.com/hdcms/images/e300d293929ad01035982a22ed5bf2f1.png"/>
          <p:cNvSpPr/>
          <p:nvPr/>
        </p:nvSpPr>
        <p:spPr>
          <a:xfrm flipH="false" flipV="false" rot="0">
            <a:off x="14014342" y="982513"/>
            <a:ext cx="2878531" cy="1856232"/>
          </a:xfrm>
          <a:custGeom>
            <a:avLst/>
            <a:gdLst/>
            <a:ahLst/>
            <a:cxnLst/>
            <a:rect r="r" b="b" t="t" l="l"/>
            <a:pathLst>
              <a:path h="1856232" w="2878531">
                <a:moveTo>
                  <a:pt x="0" y="0"/>
                </a:moveTo>
                <a:lnTo>
                  <a:pt x="2878531" y="0"/>
                </a:lnTo>
                <a:lnTo>
                  <a:pt x="2878531" y="1856232"/>
                </a:lnTo>
                <a:lnTo>
                  <a:pt x="0" y="1856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" t="0" r="-17" b="0"/>
            </a:stretch>
          </a:blipFill>
        </p:spPr>
      </p:sp>
      <p:sp>
        <p:nvSpPr>
          <p:cNvPr name="Freeform 6" id="6" descr="https://electron-update-1251441578.file.myqcloud.com/hdcms/images/e300d293929ad01035982a22ed5bf2f1.png"/>
          <p:cNvSpPr/>
          <p:nvPr/>
        </p:nvSpPr>
        <p:spPr>
          <a:xfrm flipH="false" flipV="false" rot="0">
            <a:off x="1444742" y="7788812"/>
            <a:ext cx="2879388" cy="1856137"/>
          </a:xfrm>
          <a:custGeom>
            <a:avLst/>
            <a:gdLst/>
            <a:ahLst/>
            <a:cxnLst/>
            <a:rect r="r" b="b" t="t" l="l"/>
            <a:pathLst>
              <a:path h="1856137" w="2879388">
                <a:moveTo>
                  <a:pt x="0" y="0"/>
                </a:moveTo>
                <a:lnTo>
                  <a:pt x="2879389" y="0"/>
                </a:lnTo>
                <a:lnTo>
                  <a:pt x="2879389" y="1856136"/>
                </a:lnTo>
                <a:lnTo>
                  <a:pt x="0" y="1856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32349" y="4938865"/>
            <a:ext cx="13623303" cy="113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4"/>
              </a:lnSpc>
            </a:pPr>
            <a:r>
              <a:rPr lang="en-US" sz="8640" b="true">
                <a:solidFill>
                  <a:srgbClr val="2E333E"/>
                </a:solidFill>
                <a:latin typeface="Arimo Bold"/>
                <a:ea typeface="Arimo Bold"/>
                <a:cs typeface="Arimo Bold"/>
                <a:sym typeface="Arimo Bold"/>
              </a:rPr>
              <a:t>系统核心功能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75090" y="2312127"/>
            <a:ext cx="1537811" cy="138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b="true" sz="10368" spc="288">
                <a:solidFill>
                  <a:srgbClr val="353AF6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0093" y="718871"/>
            <a:ext cx="6771623" cy="71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87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核心功能 —— 小说全场景信息服务闭环</a:t>
            </a:r>
          </a:p>
          <a:p>
            <a:pPr algn="l">
              <a:lnSpc>
                <a:spcPts val="276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68675" y="2079964"/>
            <a:ext cx="12088124" cy="47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📚小说基础信息精准检索</a:t>
            </a:r>
          </a:p>
          <a:p>
            <a:pPr algn="l" marL="1348583" indent="-449528" lvl="2">
              <a:lnSpc>
                <a:spcPts val="4715"/>
              </a:lnSpc>
              <a:buFont typeface="Arial"/>
              <a:buChar char="⚬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无需切换平台，快速获取完整基础信息</a:t>
            </a:r>
          </a:p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🎯</a:t>
            </a: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个性化小说推荐</a:t>
            </a:r>
          </a:p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❓</a:t>
            </a: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小说剧情 / 角色深度问答</a:t>
            </a:r>
          </a:p>
          <a:p>
            <a:pPr algn="l" marL="1348583" indent="-449528" lvl="2">
              <a:lnSpc>
                <a:spcPts val="4715"/>
              </a:lnSpc>
              <a:buFont typeface="Arial"/>
              <a:buChar char="⚬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告别 “表面信息”，深度解答小说细节疑问</a:t>
            </a:r>
          </a:p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  <a:r>
              <a:rPr lang="en-US" b="true" sz="3123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小说合规资源指引</a:t>
            </a:r>
          </a:p>
          <a:p>
            <a:pPr algn="l" marL="1348583" indent="-449528" lvl="2">
              <a:lnSpc>
                <a:spcPts val="4715"/>
              </a:lnSpc>
              <a:buFont typeface="Arial"/>
              <a:buChar char="⚬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一键获取阅读渠道</a:t>
            </a:r>
          </a:p>
          <a:p>
            <a:pPr algn="l">
              <a:lnSpc>
                <a:spcPts val="471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https://electron-update-1251441578.file.myqcloud.com/hdcms/images/1d813479b45a97a231ff6438d45e5dc9.png"/>
          <p:cNvSpPr/>
          <p:nvPr/>
        </p:nvSpPr>
        <p:spPr>
          <a:xfrm flipH="false" flipV="false" rot="0">
            <a:off x="1444742" y="2463184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https://electron-update-1251441578.file.myqcloud.com/hdcms/images/1d813479b45a97a231ff6438d45e5dc9.png"/>
          <p:cNvSpPr/>
          <p:nvPr/>
        </p:nvSpPr>
        <p:spPr>
          <a:xfrm flipH="false" flipV="false" rot="0">
            <a:off x="14744890" y="7443883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https://electron-update-1251441578.file.myqcloud.com/hdcms/images/e300d293929ad01035982a22ed5bf2f1.png"/>
          <p:cNvSpPr/>
          <p:nvPr/>
        </p:nvSpPr>
        <p:spPr>
          <a:xfrm flipH="false" flipV="false" rot="0">
            <a:off x="14014342" y="982513"/>
            <a:ext cx="2878531" cy="1856232"/>
          </a:xfrm>
          <a:custGeom>
            <a:avLst/>
            <a:gdLst/>
            <a:ahLst/>
            <a:cxnLst/>
            <a:rect r="r" b="b" t="t" l="l"/>
            <a:pathLst>
              <a:path h="1856232" w="2878531">
                <a:moveTo>
                  <a:pt x="0" y="0"/>
                </a:moveTo>
                <a:lnTo>
                  <a:pt x="2878531" y="0"/>
                </a:lnTo>
                <a:lnTo>
                  <a:pt x="2878531" y="1856232"/>
                </a:lnTo>
                <a:lnTo>
                  <a:pt x="0" y="1856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" t="0" r="-17" b="0"/>
            </a:stretch>
          </a:blipFill>
        </p:spPr>
      </p:sp>
      <p:sp>
        <p:nvSpPr>
          <p:cNvPr name="Freeform 6" id="6" descr="https://electron-update-1251441578.file.myqcloud.com/hdcms/images/e300d293929ad01035982a22ed5bf2f1.png"/>
          <p:cNvSpPr/>
          <p:nvPr/>
        </p:nvSpPr>
        <p:spPr>
          <a:xfrm flipH="false" flipV="false" rot="0">
            <a:off x="1444742" y="7788812"/>
            <a:ext cx="2879388" cy="1856137"/>
          </a:xfrm>
          <a:custGeom>
            <a:avLst/>
            <a:gdLst/>
            <a:ahLst/>
            <a:cxnLst/>
            <a:rect r="r" b="b" t="t" l="l"/>
            <a:pathLst>
              <a:path h="1856137" w="2879388">
                <a:moveTo>
                  <a:pt x="0" y="0"/>
                </a:moveTo>
                <a:lnTo>
                  <a:pt x="2879389" y="0"/>
                </a:lnTo>
                <a:lnTo>
                  <a:pt x="2879389" y="1856136"/>
                </a:lnTo>
                <a:lnTo>
                  <a:pt x="0" y="1856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32349" y="4938865"/>
            <a:ext cx="13623303" cy="113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4"/>
              </a:lnSpc>
            </a:pPr>
            <a:r>
              <a:rPr lang="en-US" sz="8640" b="true">
                <a:solidFill>
                  <a:srgbClr val="2E333E"/>
                </a:solidFill>
                <a:latin typeface="Arimo Bold"/>
                <a:ea typeface="Arimo Bold"/>
                <a:cs typeface="Arimo Bold"/>
                <a:sym typeface="Arimo Bold"/>
              </a:rPr>
              <a:t>系统演示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75090" y="2312127"/>
            <a:ext cx="1537811" cy="138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b="true" sz="10368" spc="288">
                <a:solidFill>
                  <a:srgbClr val="353AF6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https://electron-update-1251441578.file.myqcloud.com/hdcms/images/1d813479b45a97a231ff6438d45e5dc9.png"/>
          <p:cNvSpPr/>
          <p:nvPr/>
        </p:nvSpPr>
        <p:spPr>
          <a:xfrm flipH="false" flipV="false" rot="0">
            <a:off x="1444742" y="2463184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https://electron-update-1251441578.file.myqcloud.com/hdcms/images/1d813479b45a97a231ff6438d45e5dc9.png"/>
          <p:cNvSpPr/>
          <p:nvPr/>
        </p:nvSpPr>
        <p:spPr>
          <a:xfrm flipH="false" flipV="false" rot="0">
            <a:off x="14744890" y="7443883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https://electron-update-1251441578.file.myqcloud.com/hdcms/images/e300d293929ad01035982a22ed5bf2f1.png"/>
          <p:cNvSpPr/>
          <p:nvPr/>
        </p:nvSpPr>
        <p:spPr>
          <a:xfrm flipH="false" flipV="false" rot="0">
            <a:off x="14014342" y="982513"/>
            <a:ext cx="2878531" cy="1856232"/>
          </a:xfrm>
          <a:custGeom>
            <a:avLst/>
            <a:gdLst/>
            <a:ahLst/>
            <a:cxnLst/>
            <a:rect r="r" b="b" t="t" l="l"/>
            <a:pathLst>
              <a:path h="1856232" w="2878531">
                <a:moveTo>
                  <a:pt x="0" y="0"/>
                </a:moveTo>
                <a:lnTo>
                  <a:pt x="2878531" y="0"/>
                </a:lnTo>
                <a:lnTo>
                  <a:pt x="2878531" y="1856232"/>
                </a:lnTo>
                <a:lnTo>
                  <a:pt x="0" y="1856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" t="0" r="-17" b="0"/>
            </a:stretch>
          </a:blipFill>
        </p:spPr>
      </p:sp>
      <p:sp>
        <p:nvSpPr>
          <p:cNvPr name="Freeform 6" id="6" descr="https://electron-update-1251441578.file.myqcloud.com/hdcms/images/e300d293929ad01035982a22ed5bf2f1.png"/>
          <p:cNvSpPr/>
          <p:nvPr/>
        </p:nvSpPr>
        <p:spPr>
          <a:xfrm flipH="false" flipV="false" rot="0">
            <a:off x="1444742" y="7788812"/>
            <a:ext cx="2879388" cy="1856137"/>
          </a:xfrm>
          <a:custGeom>
            <a:avLst/>
            <a:gdLst/>
            <a:ahLst/>
            <a:cxnLst/>
            <a:rect r="r" b="b" t="t" l="l"/>
            <a:pathLst>
              <a:path h="1856137" w="2879388">
                <a:moveTo>
                  <a:pt x="0" y="0"/>
                </a:moveTo>
                <a:lnTo>
                  <a:pt x="2879389" y="0"/>
                </a:lnTo>
                <a:lnTo>
                  <a:pt x="2879389" y="1856136"/>
                </a:lnTo>
                <a:lnTo>
                  <a:pt x="0" y="1856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32349" y="4938865"/>
            <a:ext cx="13623303" cy="113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4"/>
              </a:lnSpc>
            </a:pPr>
            <a:r>
              <a:rPr lang="en-US" sz="8640" b="true">
                <a:solidFill>
                  <a:srgbClr val="2E333E"/>
                </a:solidFill>
                <a:latin typeface="Arimo Bold"/>
                <a:ea typeface="Arimo Bold"/>
                <a:cs typeface="Arimo Bold"/>
                <a:sym typeface="Arimo Bold"/>
              </a:rPr>
              <a:t>与已有信息检索方案的区别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75090" y="2312127"/>
            <a:ext cx="1537811" cy="138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b="true" sz="10368" spc="288">
                <a:solidFill>
                  <a:srgbClr val="353AF6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970093" y="1322251"/>
          <a:ext cx="5657850" cy="3771900"/>
        </p:xfrm>
        <a:graphic>
          <a:graphicData uri="http://schemas.openxmlformats.org/presentationml/2006/ole">
            <p:oleObj imgW="6781800" imgH="4902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970093" y="718871"/>
            <a:ext cx="11658781" cy="321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87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页面标题：核心差异——重构小说信息检索体验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1574915"/>
          <a:ext cx="5657850" cy="5029200"/>
        </p:xfrm>
        <a:graphic>
          <a:graphicData uri="http://schemas.openxmlformats.org/presentationml/2006/ole">
            <p:oleObj imgW="6781800" imgH="6159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https://electron-update-1251441578.file.myqcloud.com/hdcms/images/1d813479b45a97a231ff6438d45e5dc9.png"/>
          <p:cNvSpPr/>
          <p:nvPr/>
        </p:nvSpPr>
        <p:spPr>
          <a:xfrm flipH="false" flipV="false" rot="0">
            <a:off x="1444742" y="2463184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 descr="https://electron-update-1251441578.file.myqcloud.com/hdcms/images/1d813479b45a97a231ff6438d45e5dc9.png"/>
          <p:cNvSpPr/>
          <p:nvPr/>
        </p:nvSpPr>
        <p:spPr>
          <a:xfrm flipH="false" flipV="false" rot="0">
            <a:off x="14744890" y="7443883"/>
            <a:ext cx="2148840" cy="1170432"/>
          </a:xfrm>
          <a:custGeom>
            <a:avLst/>
            <a:gdLst/>
            <a:ahLst/>
            <a:cxnLst/>
            <a:rect r="r" b="b" t="t" l="l"/>
            <a:pathLst>
              <a:path h="1170432" w="2148840">
                <a:moveTo>
                  <a:pt x="0" y="0"/>
                </a:moveTo>
                <a:lnTo>
                  <a:pt x="2148840" y="0"/>
                </a:lnTo>
                <a:lnTo>
                  <a:pt x="2148840" y="1170432"/>
                </a:lnTo>
                <a:lnTo>
                  <a:pt x="0" y="11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 descr="https://electron-update-1251441578.file.myqcloud.com/hdcms/images/e300d293929ad01035982a22ed5bf2f1.png"/>
          <p:cNvSpPr/>
          <p:nvPr/>
        </p:nvSpPr>
        <p:spPr>
          <a:xfrm flipH="false" flipV="false" rot="0">
            <a:off x="14014342" y="982513"/>
            <a:ext cx="2878531" cy="1856232"/>
          </a:xfrm>
          <a:custGeom>
            <a:avLst/>
            <a:gdLst/>
            <a:ahLst/>
            <a:cxnLst/>
            <a:rect r="r" b="b" t="t" l="l"/>
            <a:pathLst>
              <a:path h="1856232" w="2878531">
                <a:moveTo>
                  <a:pt x="0" y="0"/>
                </a:moveTo>
                <a:lnTo>
                  <a:pt x="2878531" y="0"/>
                </a:lnTo>
                <a:lnTo>
                  <a:pt x="2878531" y="1856232"/>
                </a:lnTo>
                <a:lnTo>
                  <a:pt x="0" y="1856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" t="0" r="-17" b="0"/>
            </a:stretch>
          </a:blipFill>
        </p:spPr>
      </p:sp>
      <p:sp>
        <p:nvSpPr>
          <p:cNvPr name="Freeform 6" id="6" descr="https://electron-update-1251441578.file.myqcloud.com/hdcms/images/e300d293929ad01035982a22ed5bf2f1.png"/>
          <p:cNvSpPr/>
          <p:nvPr/>
        </p:nvSpPr>
        <p:spPr>
          <a:xfrm flipH="false" flipV="false" rot="0">
            <a:off x="1444742" y="7788812"/>
            <a:ext cx="2879388" cy="1856137"/>
          </a:xfrm>
          <a:custGeom>
            <a:avLst/>
            <a:gdLst/>
            <a:ahLst/>
            <a:cxnLst/>
            <a:rect r="r" b="b" t="t" l="l"/>
            <a:pathLst>
              <a:path h="1856137" w="2879388">
                <a:moveTo>
                  <a:pt x="0" y="0"/>
                </a:moveTo>
                <a:lnTo>
                  <a:pt x="2879389" y="0"/>
                </a:lnTo>
                <a:lnTo>
                  <a:pt x="2879389" y="1856136"/>
                </a:lnTo>
                <a:lnTo>
                  <a:pt x="0" y="1856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32349" y="4938865"/>
            <a:ext cx="13623303" cy="113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4"/>
              </a:lnSpc>
            </a:pPr>
            <a:r>
              <a:rPr lang="en-US" sz="8640" b="true">
                <a:solidFill>
                  <a:srgbClr val="2E333E"/>
                </a:solidFill>
                <a:latin typeface="Arimo Bold"/>
                <a:ea typeface="Arimo Bold"/>
                <a:cs typeface="Arimo Bold"/>
                <a:sym typeface="Arimo Bold"/>
              </a:rPr>
              <a:t>总结展望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75090" y="2312127"/>
            <a:ext cx="1537811" cy="138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b="true" sz="10368" spc="288">
                <a:solidFill>
                  <a:srgbClr val="353AF6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99938" y="3434630"/>
            <a:ext cx="12088124" cy="29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5"/>
              </a:lnSpc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我们针对小说信息检索的难点，开发了这个多智能体系统。它包含</a:t>
            </a:r>
            <a:r>
              <a:rPr lang="en-US" sz="3123" b="true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小说查阅、个性化推荐、情节人物问答</a:t>
            </a:r>
            <a:r>
              <a:rPr lang="en-US" sz="3123" b="true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和正规资源引导</a:t>
            </a: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这四个主要功能，形成了一个从“找书、查资料、解疑惑到读正版”的完整信息服务流程。综合体验比传统检索方法</a:t>
            </a: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和通用AI工具好很多，能解决小说爱好者找书渠道少、信息零散、推荐不准的问题。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0093" y="718871"/>
            <a:ext cx="6771623" cy="37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879">
                <a:solidFill>
                  <a:srgbClr val="333333"/>
                </a:solidFill>
                <a:latin typeface="Arimo"/>
                <a:ea typeface="Arimo"/>
                <a:cs typeface="Arimo"/>
                <a:sym typeface="Arimo"/>
              </a:rPr>
              <a:t>未来发展发现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68675" y="2079964"/>
            <a:ext cx="12088124" cy="4125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增加数据源，接入更多小说相关</a:t>
            </a: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平台的API和小众文学网站的合规数据，提升推荐结果的多样性，使检索结果更完善。</a:t>
            </a:r>
          </a:p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继续优</a:t>
            </a: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化agent的规则引擎和推荐逻辑，不断完善修改prompt，提高准确性。</a:t>
            </a:r>
          </a:p>
          <a:p>
            <a:pPr algn="l" marL="674291" indent="-337146" lvl="1">
              <a:lnSpc>
                <a:spcPts val="4715"/>
              </a:lnSpc>
              <a:buFont typeface="Arial"/>
              <a:buChar char="•"/>
            </a:pPr>
            <a:r>
              <a:rPr lang="en-US" sz="3123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可以扩展更多的功能，比如将智能体继承到网页中进行可视化展示等。</a:t>
            </a:r>
          </a:p>
          <a:p>
            <a:pPr algn="l">
              <a:lnSpc>
                <a:spcPts val="471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DAG8PI1OlqI</dc:identifier>
  <dcterms:modified xsi:type="dcterms:W3CDTF">2011-08-01T06:04:30Z</dcterms:modified>
  <cp:revision>1</cp:revision>
  <dc:title># NovelPul.PPTX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AIGC">
    <vt:lpwstr>{"Label":"1","ContentProducer":"001191110105MA01AN806X00000","ProduceID":"DAG8PI1OlqI","ReservedCode1":"","ContentPropagator":"001191110105MA01AN806X00000","PropagateID":"DAG8PI1OlqI","ReservedCode2":""}</vt:lpwstr>
  </property>
</Properties>
</file>